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ba0ce0e1314808" /><Relationship Type="http://schemas.openxmlformats.org/officeDocument/2006/relationships/extended-properties" Target="/docProps/app.xml" Id="Rc6c8fed0f8904e79" /><Relationship Type="http://schemas.openxmlformats.org/officeDocument/2006/relationships/officeDocument" Target="/ppt/presentation.xml" Id="R64b76ea352c64d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a34fe0f8245e1"/>
  </p:sldMasterIdLst>
  <p:notesMasterIdLst>
    <p:notesMasterId xmlns:r="http://schemas.openxmlformats.org/officeDocument/2006/relationships" r:id="R345619d15e144453"/>
  </p:notesMasterIdLst>
  <p:sldIdLst>
    <p:sldId xmlns:r="http://schemas.openxmlformats.org/officeDocument/2006/relationships" id="256" r:id="R242d71eef4904130"/>
    <p:sldId xmlns:r="http://schemas.openxmlformats.org/officeDocument/2006/relationships" id="257" r:id="Rd5af7afc3efa4afb"/>
    <p:sldId xmlns:r="http://schemas.openxmlformats.org/officeDocument/2006/relationships" id="258" r:id="R799be57ca9ba4c7e"/>
    <p:sldId xmlns:r="http://schemas.openxmlformats.org/officeDocument/2006/relationships" id="259" r:id="R60d4324fd3904748"/>
    <p:sldId xmlns:r="http://schemas.openxmlformats.org/officeDocument/2006/relationships" id="260" r:id="R463485ff7a8540e8"/>
    <p:sldId xmlns:r="http://schemas.openxmlformats.org/officeDocument/2006/relationships" id="261" r:id="R94e9eb79b201415b"/>
    <p:sldId xmlns:r="http://schemas.openxmlformats.org/officeDocument/2006/relationships" id="262" r:id="Rf656d3236b6f4139"/>
    <p:sldId xmlns:r="http://schemas.openxmlformats.org/officeDocument/2006/relationships" id="263" r:id="R58224030d3454fd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a34fe0f8245e1" /><Relationship Type="http://schemas.openxmlformats.org/officeDocument/2006/relationships/theme" Target="/ppt/theme/theme1.xml" Id="R0c2e476881fb4b40" /><Relationship Type="http://schemas.openxmlformats.org/officeDocument/2006/relationships/notesMaster" Target="/ppt/notesMasters/notesMaster1.xml" Id="R345619d15e144453" /><Relationship Type="http://schemas.openxmlformats.org/officeDocument/2006/relationships/presProps" Target="/ppt/presProps.xml" Id="R2823352c70ff451f" /><Relationship Type="http://schemas.openxmlformats.org/officeDocument/2006/relationships/viewProps" Target="/ppt/viewProps.xml" Id="R752c15fdae064f82" /><Relationship Type="http://schemas.openxmlformats.org/officeDocument/2006/relationships/tableStyles" Target="/ppt/tableStyles.xml" Id="Rcb22f131c7224fd4" /><Relationship Type="http://schemas.openxmlformats.org/officeDocument/2006/relationships/slide" Target="/ppt/slides/slide1.xml" Id="R242d71eef4904130" /><Relationship Type="http://schemas.openxmlformats.org/officeDocument/2006/relationships/slide" Target="/ppt/slides/slide2.xml" Id="Rd5af7afc3efa4afb" /><Relationship Type="http://schemas.openxmlformats.org/officeDocument/2006/relationships/slide" Target="/ppt/slides/slide3.xml" Id="R799be57ca9ba4c7e" /><Relationship Type="http://schemas.openxmlformats.org/officeDocument/2006/relationships/slide" Target="/ppt/slides/slide4.xml" Id="R60d4324fd3904748" /><Relationship Type="http://schemas.openxmlformats.org/officeDocument/2006/relationships/slide" Target="/ppt/slides/slide5.xml" Id="R463485ff7a8540e8" /><Relationship Type="http://schemas.openxmlformats.org/officeDocument/2006/relationships/slide" Target="/ppt/slides/slide6.xml" Id="R94e9eb79b201415b" /><Relationship Type="http://schemas.openxmlformats.org/officeDocument/2006/relationships/slide" Target="/ppt/slides/slide7.xml" Id="Rf656d3236b6f4139" /><Relationship Type="http://schemas.openxmlformats.org/officeDocument/2006/relationships/slide" Target="/ppt/slides/slide8.xml" Id="R58224030d3454f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b3f40f6cac46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e1373c58d64c5f" /><Relationship Type="http://schemas.openxmlformats.org/officeDocument/2006/relationships/notesMaster" Target="/ppt/notesMasters/notesMaster1.xml" Id="R9c3c3bb48363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72e6cd42b343f9" /><Relationship Type="http://schemas.openxmlformats.org/officeDocument/2006/relationships/notesMaster" Target="/ppt/notesMasters/notesMaster1.xml" Id="Rf06f02e89468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a1d8e15eeb4a64" /><Relationship Type="http://schemas.openxmlformats.org/officeDocument/2006/relationships/notesMaster" Target="/ppt/notesMasters/notesMaster1.xml" Id="Rdd95edb7a10141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d7869c1cf74937" /><Relationship Type="http://schemas.openxmlformats.org/officeDocument/2006/relationships/notesMaster" Target="/ppt/notesMasters/notesMaster1.xml" Id="R0ab94edc6ef940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ebe69cab8d48e7" /><Relationship Type="http://schemas.openxmlformats.org/officeDocument/2006/relationships/notesMaster" Target="/ppt/notesMasters/notesMaster1.xml" Id="R3ad366407d4f48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cebca9a9ec40fb" /><Relationship Type="http://schemas.openxmlformats.org/officeDocument/2006/relationships/notesMaster" Target="/ppt/notesMasters/notesMaster1.xml" Id="R689b9f001b1640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26b8c8dc1e4727" /><Relationship Type="http://schemas.openxmlformats.org/officeDocument/2006/relationships/notesMaster" Target="/ppt/notesMasters/notesMaster1.xml" Id="R186a66cf33dd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98119452d548e3" /><Relationship Type="http://schemas.openxmlformats.org/officeDocument/2006/relationships/notesMaster" Target="/ppt/notesMasters/notesMaster1.xml" Id="Rc59f5097e252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126a253544e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343337f7024ce6" /><Relationship Type="http://schemas.openxmlformats.org/officeDocument/2006/relationships/slideLayout" Target="/ppt/slideLayouts/slideLayout2.xml" Id="R88a360a1d8e1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a360a1d8e1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3e81e9bff743cf" /><Relationship Type="http://schemas.openxmlformats.org/officeDocument/2006/relationships/image" Target="/ppt/media/image.png" Id="Rd6abc6a9f6b145d7" /><Relationship Type="http://schemas.openxmlformats.org/officeDocument/2006/relationships/image" Target="/ppt/media/image2.png" Id="Rb3dfcb70f2dd4f10" /><Relationship Type="http://schemas.openxmlformats.org/officeDocument/2006/relationships/notesSlide" Target="/ppt/notesSlides/notesSlide1.xml" Id="Rd78c1653e86940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5d6fe230c4b39" /><Relationship Type="http://schemas.openxmlformats.org/officeDocument/2006/relationships/notesSlide" Target="/ppt/notesSlides/notesSlide2.xml" Id="Rf323cc0ce84142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34b25304d44d85" /><Relationship Type="http://schemas.openxmlformats.org/officeDocument/2006/relationships/notesSlide" Target="/ppt/notesSlides/notesSlide3.xml" Id="Rac3a50aaa907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51d7065a04003" /><Relationship Type="http://schemas.openxmlformats.org/officeDocument/2006/relationships/chart" Target="/ppt/slides/charts/chart1.xml" Id="Rda7fe9be87034e4c" /><Relationship Type="http://schemas.openxmlformats.org/officeDocument/2006/relationships/notesSlide" Target="/ppt/notesSlides/notesSlide4.xml" Id="Rb01703e220fb46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417191916e4f5d" /><Relationship Type="http://schemas.openxmlformats.org/officeDocument/2006/relationships/notesSlide" Target="/ppt/notesSlides/notesSlide5.xml" Id="R503908cc9685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224bb582d437b" /><Relationship Type="http://schemas.openxmlformats.org/officeDocument/2006/relationships/image" Target="/ppt/media/image3.png" Id="R9ac33433bcbf4d9d" /><Relationship Type="http://schemas.openxmlformats.org/officeDocument/2006/relationships/notesSlide" Target="/ppt/notesSlides/notesSlide6.xml" Id="R552c5380125947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cf6dacd91473b" /><Relationship Type="http://schemas.openxmlformats.org/officeDocument/2006/relationships/notesSlide" Target="/ppt/notesSlides/notesSlide7.xml" Id="R0aa1d899b7b44e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fa84c8fb524d6d" /><Relationship Type="http://schemas.openxmlformats.org/officeDocument/2006/relationships/notesSlide" Target="/ppt/notesSlides/notesSlide8.xml" Id="Rab5d8f271b1f4ca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Weight</c:v>
          </c:tx>
          <c:cat>
            <c:strLit>
              <c:ptCount val="4"/>
              <c:pt idx="0">
                <c:v>Skills match</c:v>
              </c:pt>
              <c:pt idx="1">
                <c:v>Department relevance</c:v>
              </c:pt>
              <c:pt idx="2">
                <c:v>Location proximity</c:v>
              </c:pt>
              <c:pt idx="3">
                <c:v>Title relevance</c:v>
              </c:pt>
            </c:strLit>
          </c:cat>
          <c:val>
            <c:numLit>
              <c:formatCode/>
              <c:ptCount val="4"/>
              <c:pt idx="0">
                <c:v>50</c:v>
              </c:pt>
              <c:pt idx="1">
                <c:v>25</c:v>
              </c:pt>
              <c:pt idx="2">
                <c:v>15</c:v>
              </c:pt>
              <c:pt idx="3">
                <c:v>10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D0C04-6815-4205-B76A-86586EF3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491A9-FC1E-4C11-AFB2-064333F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F7A5F-E9D8-4B2E-A7A9-A0B8D8B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2609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UNIVERSITY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35EFD-C3DF-473A-B45B-6FBF982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5A57"/>
                </a:solidFill>
              </a:defRPr>
            </a:pPr>
            <a:r>
              <a:rPr sz="1425" b="0">
                <a:solidFill>
                  <a:srgbClr val="5F5A57"/>
                </a:solidFill>
              </a:rPr>
              <a:t>Abdelhamid Mehri University Constantine 2</a:t>
            </a:r>
          </a:p>
        </p:txBody>
      </p:sp>
      <p:pic>
        <p:nvPicPr>
          <p:cNvPr id="5" name="uc2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bc6a9f6b145d7"/>
          <a:stretch xmlns:a="http://schemas.openxmlformats.org/drawingml/2006/main"/>
        </p:blipFill>
        <p:spPr>
          <a:xfrm xmlns:a="http://schemas.openxmlformats.org/drawingml/2006/main">
            <a:off x="16154400" y="7048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7D772-23D4-4F32-AC37-FF59B3B4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26860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4B2E2B"/>
                </a:solidFill>
              </a:defRPr>
            </a:pPr>
            <a:r>
              <a:rPr sz="7500" b="1">
                <a:solidFill>
                  <a:srgbClr val="4B2E2B"/>
                </a:solidFill>
              </a:rPr>
              <a:t>Stag.io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142F5-182D-40DC-9FD1-B69C6445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81965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8A96A"/>
                </a:solidFill>
              </a:defRPr>
            </a:pPr>
            <a:r>
              <a:rPr sz="4050" b="1">
                <a:solidFill>
                  <a:srgbClr val="C8A96A"/>
                </a:solidFill>
              </a:rPr>
              <a:t>A Modern Internship</a:t>
            </a:r>
          </a:p>
          <a:p xmlns:a="http://schemas.openxmlformats.org/drawingml/2006/main">
            <a:pPr>
              <a:defRPr sz="4050" b="1">
                <a:solidFill>
                  <a:srgbClr val="C8A96A"/>
                </a:solidFill>
              </a:defRPr>
            </a:pPr>
            <a:r>
              <a:rPr sz="4050" b="1">
                <a:solidFill>
                  <a:srgbClr val="C8A96A"/>
                </a:solidFill>
              </a:rPr>
              <a:t>Management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3431C-B46C-4FFD-B635-F8D2FD21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72300"/>
            <a:ext cx="6724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D201D"/>
                </a:solidFill>
              </a:defRPr>
            </a:pPr>
            <a:r>
              <a:rPr sz="1800" b="0">
                <a:solidFill>
                  <a:srgbClr val="2D201D"/>
                </a:solidFill>
              </a:rPr>
              <a:t>A full-stack platform that connects students, companies, and universities in one digital workflow for internship discovery, application, validation, and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D478B-77F6-411C-8601-1DE0D1F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65770"/>
            <a:ext cx="1953482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65000-9393-4C44-84A3-4EB34B8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SmartMatch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69B58-9365-4D31-8AB5-EE3E3789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982" y="8065770"/>
            <a:ext cx="183022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27AE5-18A2-42C5-B724-46AFF206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81534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Digital agreements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12865-125C-48EF-8C2E-AAB802A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611" y="8065770"/>
            <a:ext cx="1899666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1183E-BE1F-4A24-B4B5-4D3F67C1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8153400"/>
            <a:ext cx="156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Real-time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B05DA-7064-4652-9995-159FC58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7255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DEE85-15D3-4C58-974D-E0B6605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658350"/>
            <a:ext cx="342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2946E-9A13-4B68-8925-FBD3096F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972550"/>
            <a:ext cx="1771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&lt;100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A0F76-91AC-4E1C-9282-0BAA050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0267950"/>
            <a:ext cx="66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matching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09B33-6E09-44B9-BB08-0F379592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972550"/>
            <a:ext cx="1562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EN / FR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B8D4F-51E8-406C-971A-908FB455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0267950"/>
            <a:ext cx="609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bilingual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5C30A-79CF-46D8-A47D-6EE40E08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244" y="2305050"/>
            <a:ext cx="7915656" cy="65532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pic>
        <p:nvPicPr>
          <p:cNvPr id="22" name="homepage-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fcb70f2dd4f10"/>
          <a:stretch xmlns:a="http://schemas.openxmlformats.org/drawingml/2006/main"/>
        </p:blipFill>
        <p:spPr>
          <a:xfrm xmlns:a="http://schemas.openxmlformats.org/drawingml/2006/main">
            <a:off x="9743694" y="2476500"/>
            <a:ext cx="7572756" cy="621030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580B2-571D-4FD6-A7E7-52B0DB17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24950"/>
            <a:ext cx="1562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Atelier TI 2025-2026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3728F-E6DE-4CB8-ACE1-E15F5321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239250"/>
            <a:ext cx="438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Built by students, for real academic internship workflows</a:t>
            </a:r>
          </a:p>
        </p:txBody>
      </p:sp>
    </p:spTree>
    <p:extLst>
      <p:ext uri="{BB962C8B-B14F-4D97-AF65-F5344CB8AC3E}">
        <p14:creationId xmlns:p14="http://schemas.microsoft.com/office/powerpoint/2010/main" val="15180368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640B3-60B0-46B4-B756-46D315F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CEEF2-1724-405F-A91A-77358BFB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AAFEA-8984-40C4-BD07-F84BB774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1581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97660-4A19-496C-B743-FBD79A27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19634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4B2E2B"/>
                </a:solidFill>
              </a:defRPr>
            </a:pPr>
            <a:r>
              <a:rPr sz="5550" b="1">
                <a:solidFill>
                  <a:srgbClr val="4B2E2B"/>
                </a:solidFill>
              </a:rPr>
              <a:t>The internship process is still fragmented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310BE-FD67-498D-AFAD-174F2183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7677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D201D"/>
                </a:solidFill>
              </a:defRPr>
            </a:pPr>
            <a:r>
              <a:rPr sz="2325" b="0">
                <a:solidFill>
                  <a:srgbClr val="2D201D"/>
                </a:solidFill>
              </a:rPr>
              <a:t>In many higher-education contexts, especially in Algeria, internship management still depends on disconnected channels: social media posts, email exchanges, paper files, and manual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BCEBD-B352-4038-9516-8852D8BC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3452B-CDEF-44B4-8C26-EC37751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7372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Students spend too much time searching through irrelevant offers.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C677B-6788-48BF-9DFA-D19CF056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FED97-46DD-4A14-8F50-1F95959F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7372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Companies receive applications without structured candidate matching.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9416F-5162-4624-A1EF-A2D11163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27340-143A-484B-A956-7ABDFA8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7372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Universities validate agreements with slow and non-transparent procedures.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6D431-B024-4011-A638-838C593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788B9-5BEA-47E1-9BBA-0A39AC17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77000"/>
            <a:ext cx="7372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Important updates are scattered across channels instead of tracked in one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8DADC-B51E-4749-9765-B251725E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92780"/>
            <a:ext cx="4135755" cy="3042285"/>
          </a:xfrm>
          <a:prstGeom xmlns:a="http://schemas.openxmlformats.org/drawingml/2006/main" prst="roundRect">
            <a:avLst>
              <a:gd name="adj" fmla="val 8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70DA3-B4EB-4439-B957-7BFC0701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96A"/>
          </a:solidFill>
          <a:ln xmlns:a="http://schemas.openxmlformats.org/drawingml/2006/main" w="0">
            <a:solidFill>
              <a:srgbClr val="C8A9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2AD96-BA6D-4FF0-AE19-640A446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Scattered opportunities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827AE-A445-4595-B305-EA4793C8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367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Offer discovery is often chronological, manual, and hard to filter.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05DBE-A455-4BA3-B2CA-88EA7E8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2145" y="3192780"/>
            <a:ext cx="4135755" cy="3042285"/>
          </a:xfrm>
          <a:prstGeom xmlns:a="http://schemas.openxmlformats.org/drawingml/2006/main" prst="roundRect">
            <a:avLst>
              <a:gd name="adj" fmla="val 8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103F7-F3C4-4AAB-94A3-780DF9F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4290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E3A"/>
          </a:solidFill>
          <a:ln xmlns:a="http://schemas.openxmlformats.org/drawingml/2006/main" w="0">
            <a:solidFill>
              <a:srgbClr val="7A4E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73D84-0C07-49D1-9C82-9B3B95F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56235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Paper-heavy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B28D4-D2BE-4E77-9454-45F2F22E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3943350"/>
            <a:ext cx="367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Administrative approval remains slow and difficult to monitor.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80F1D-E3D9-416D-A57C-599E1E16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444615"/>
            <a:ext cx="4135755" cy="3042285"/>
          </a:xfrm>
          <a:prstGeom xmlns:a="http://schemas.openxmlformats.org/drawingml/2006/main" prst="roundRect">
            <a:avLst>
              <a:gd name="adj" fmla="val 8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DD2F9-C111-494D-837D-024C4FE8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667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6E"/>
          </a:solidFill>
          <a:ln xmlns:a="http://schemas.openxmlformats.org/drawingml/2006/main" w="0">
            <a:solidFill>
              <a:srgbClr val="7C9A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3CFAB-2109-4174-8DE5-E59CD5E2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80085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Weak student-offer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BBBD9-2E48-4F46-92E6-04E45C1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181850"/>
            <a:ext cx="367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Keyword search does not reflect skills, department, or location.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83C03A-832F-40C1-BD8B-1223A59A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2145" y="6444615"/>
            <a:ext cx="4135755" cy="3042285"/>
          </a:xfrm>
          <a:prstGeom xmlns:a="http://schemas.openxmlformats.org/drawingml/2006/main" prst="roundRect">
            <a:avLst>
              <a:gd name="adj" fmla="val 8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A0129-0938-444D-9AC0-4CBCCE1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6675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96A"/>
          </a:solidFill>
          <a:ln xmlns:a="http://schemas.openxmlformats.org/drawingml/2006/main" w="0">
            <a:solidFill>
              <a:srgbClr val="C8A9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AE27B-CACD-4AB9-8AF1-01A55C02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6800850"/>
            <a:ext cx="367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Low process visibility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0E159-ECD1-4EAE-B36C-6EAD7C76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181850"/>
            <a:ext cx="367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Stakeholders cannot easily track the full internship lifecycle.</a:t>
            </a:r>
          </a:p>
        </p:txBody>
      </p:sp>
    </p:spTree>
    <p:extLst>
      <p:ext uri="{BB962C8B-B14F-4D97-AF65-F5344CB8AC3E}">
        <p14:creationId xmlns:p14="http://schemas.microsoft.com/office/powerpoint/2010/main" val="258759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6D6E9-E1B3-47C6-BA9E-EC5984A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D8900-3F7A-451F-BE39-89CF5D8F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CBB35-C114-4998-A126-F6BAA144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1314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PLATFORM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68BB4-2169-4682-BA69-02E096C0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102108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4B2E2B"/>
                </a:solidFill>
              </a:defRPr>
            </a:pPr>
            <a:r>
              <a:rPr sz="5400" b="1">
                <a:solidFill>
                  <a:srgbClr val="4B2E2B"/>
                </a:solidFill>
              </a:rPr>
              <a:t>One platform, five roles, one shared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BF99B-8159-4A87-957D-9ECF1B31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7448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D201D"/>
                </a:solidFill>
              </a:defRPr>
            </a:pPr>
            <a:r>
              <a:rPr sz="2250" b="0">
                <a:solidFill>
                  <a:srgbClr val="2D201D"/>
                </a:solidFill>
              </a:rPr>
              <a:t>Stag.io digitizes the full internship lifecycle and gives each actor a dedicated dashboard while preserving one coherent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DC83E-254C-49D3-BE18-2F2EA912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1279D-15F2-4C05-B081-C2E1D26B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Students browse offers, apply, save favorites, and build a professional profile.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EC078-CB07-4571-BE02-F55C674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A3681-4140-4973-AA54-882A9BB4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Companies publish internships, review candidates, and manage their brand presence.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1518D-3594-4870-B469-38F1FC01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5B302-AE92-47D4-8583-70F7F723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Universities validate agreements and monitor student progress.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8CB1A-9766-48D2-93B1-19FE8E6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C6D69-0CC3-4D4C-BB97-56D41607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1505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Admins and super admins supervise approvals, governance, and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E23E8-ADFC-4095-9046-BC6A5B10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965835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89B66-3010-4218-81B6-192683B5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628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46003-1495-4C86-8581-BE162E22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1235" y="3333750"/>
            <a:ext cx="1086517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DD58B-19E1-4F61-A0CD-8B7A0C23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29000"/>
            <a:ext cx="74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Company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CE335-77B9-49CC-99E9-7F1E7827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202" y="3333750"/>
            <a:ext cx="1145096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C6FD2-2A4B-4399-BF93-72EE5CB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429000"/>
            <a:ext cx="80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University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E926F-29BA-4D5C-A779-580FC06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747" y="3333750"/>
            <a:ext cx="86448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16C1EE-1192-4219-9CB6-BA91654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4290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A334F-03F7-4E3C-A08F-B99090C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1686" y="3333750"/>
            <a:ext cx="1365694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631D1-7D2A-40E7-BF90-463640C0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429000"/>
            <a:ext cx="1028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Super 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2DD92-D8B7-49AF-A427-70508E11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8743950" cy="2293620"/>
          </a:xfrm>
          <a:prstGeom xmlns:a="http://schemas.openxmlformats.org/drawingml/2006/main" prst="roundRect">
            <a:avLst>
              <a:gd name="adj" fmla="val 12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205A8-076D-43EB-AF50-51B4F82D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70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LIFECYCLE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9895C-BD3D-4ED2-A565-5751417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14900"/>
            <a:ext cx="1018508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B9923-6A3E-4091-ACC0-FA3B5FAD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10150"/>
            <a:ext cx="66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Discover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306DB-7E21-4F09-86F2-0F104E1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86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8DAA6-CD4F-4257-8751-114626BB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394" y="5029200"/>
            <a:ext cx="79971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1BA10-0C87-4B23-85CE-83C24EC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1244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Apply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ED2BD-683E-4906-87B9-4EF42245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086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C55CA-32A9-4D3E-A0C2-538F2A47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5349" y="5029200"/>
            <a:ext cx="986981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00F90-C3BD-468A-9F53-AF08B60A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1244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Validate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FB9C77-4E6D-433D-A2E5-6DE27BD9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086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5AD7AE-FC1C-43D8-BF43-BD7BFB69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565" y="5029200"/>
            <a:ext cx="75619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2C9066-026C-4540-A5D9-08FBF64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51244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Track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4CF5FA-BE22-4D69-935E-D648A2F8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086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13CE4E-D7B2-4351-8395-7B9E3E3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4990" y="5029200"/>
            <a:ext cx="91621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0C9ECE-2442-4B21-B493-D2C03D8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51244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5A528A-CB11-41B5-A200-9CAE985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753100"/>
            <a:ext cx="821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5A57"/>
                </a:solidFill>
              </a:defRPr>
            </a:pPr>
            <a:r>
              <a:rPr sz="1725" b="0">
                <a:solidFill>
                  <a:srgbClr val="5F5A57"/>
                </a:solidFill>
              </a:rPr>
              <a:t>Instead of multiple disconnected steps, the platform creates a continuous digital chain from opportunity discovery to validated completion.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FC90F0-3E4F-469E-99F8-2A8060F9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80085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10B0AF-1A64-4E45-9962-4C49DAC9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4866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workflow stages made visible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88FC6-6BEF-4B8B-971A-6C639C5A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80085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E5DD86-040B-44D2-8935-447A4AC3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48665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centralized platform</a:t>
            </a:r>
          </a:p>
        </p:txBody>
      </p:sp>
    </p:spTree>
    <p:extLst>
      <p:ext uri="{BB962C8B-B14F-4D97-AF65-F5344CB8AC3E}">
        <p14:creationId xmlns:p14="http://schemas.microsoft.com/office/powerpoint/2010/main" val="99293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1EA1C-9654-4D83-A7B8-FED9FD1E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4888B-4483-4E47-941B-F7D0EA4C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570C2-5456-4B4B-8404-81BB12A6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135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CORE 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3BB17-1612-4F22-9BD5-867F48B3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11906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B2E2B"/>
                </a:solidFill>
              </a:defRPr>
            </a:pPr>
            <a:r>
              <a:rPr sz="5250" b="1">
                <a:solidFill>
                  <a:srgbClr val="4B2E2B"/>
                </a:solidFill>
              </a:rPr>
              <a:t>SmartMatch turns offer search into ranking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133B2-E2C0-4627-8297-019D023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2771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D201D"/>
                </a:solidFill>
              </a:defRPr>
            </a:pPr>
            <a:r>
              <a:rPr sz="2250" b="0">
                <a:solidFill>
                  <a:srgbClr val="2D201D"/>
                </a:solidFill>
              </a:rPr>
              <a:t>SmartMatch is a proprietary recommendation engine that ranks internship offers against a student's profile in real time instead of showing a simple chronological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D101C-F9D8-4590-AC83-5C56DD2A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BF2C1-8A41-4C92-9564-9B542C8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697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The strongest signal is skills alignment between the student profile and the offer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4D02D-0B94-4ECB-BAA6-6D0B1EAC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9DCE9-D651-4C3B-96B9-CF46909A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697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Academic department relevance improves domain-specific recommendations.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F6186-8345-4B80-930E-31CAF89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49461-08C3-4CBE-9245-13F2CB27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6972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Location awareness rewards nearby or remote-compatible opportunities.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63D9F-8F5F-441C-A068-408067A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D7C8F-D516-4351-86B9-3A2FDA3B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Title relevance adds a lightweight semantic signal to the final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C8F07-BF25-40DE-92CB-9BADF089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00800"/>
            <a:ext cx="266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AE47C-D81F-412F-A2B0-E2F6666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866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weighted dimensions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C66C9-EE4A-4A23-B390-96F4977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400800"/>
            <a:ext cx="1771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&lt;100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DC064-2248-4769-B558-07D12958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696200"/>
            <a:ext cx="819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per request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81399-6278-472D-8C88-8329E3A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00800"/>
            <a:ext cx="12001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0-100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9E492-9909-4A1C-B7B3-B9544B1F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7696200"/>
            <a:ext cx="723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final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9FD11-B4EF-48EC-8BCA-11C56FF5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980" y="2487930"/>
            <a:ext cx="8884920" cy="6998970"/>
          </a:xfrm>
          <a:prstGeom xmlns:a="http://schemas.openxmlformats.org/drawingml/2006/main" prst="roundRect">
            <a:avLst>
              <a:gd name="adj" fmla="val 4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graphicFrame>
        <p:nvGraphicFramePr>
          <p:cNvPr id="21" name="smartmatch-chart"/>
          <p:cNvGraphicFramePr/>
          <p:nvPr/>
        </p:nvGraphicFramePr>
        <p:xfrm>
          <a:off xmlns:a="http://schemas.openxmlformats.org/drawingml/2006/main" x="8869680" y="2754630"/>
          <a:ext xmlns:a="http://schemas.openxmlformats.org/drawingml/2006/main" cx="835152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7fe9be87034e4c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55A9D-26BC-4307-A798-E71C50C0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029450"/>
            <a:ext cx="8343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5A57"/>
                </a:solidFill>
              </a:defRPr>
            </a:pPr>
            <a:r>
              <a:rPr sz="1650" b="0">
                <a:solidFill>
                  <a:srgbClr val="5F5A57"/>
                </a:solidFill>
              </a:rPr>
              <a:t>The scoring engine prioritizes relevance while staying transparent and explainable for academic use.</a:t>
            </a:r>
          </a:p>
        </p:txBody>
      </p:sp>
    </p:spTree>
    <p:extLst>
      <p:ext uri="{BB962C8B-B14F-4D97-AF65-F5344CB8AC3E}">
        <p14:creationId xmlns:p14="http://schemas.microsoft.com/office/powerpoint/2010/main" val="6962268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65A76-DE92-4192-8276-504A3CEE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58A1C-3464-4FAF-81C3-5A020EC0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0D031-A500-43BB-B3CF-7A20596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97D3C-DC99-4BDA-9861-2E07AC9B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20967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B2E2B"/>
                </a:solidFill>
              </a:defRPr>
            </a:pPr>
            <a:r>
              <a:rPr sz="5100" b="1">
                <a:solidFill>
                  <a:srgbClr val="4B2E2B"/>
                </a:solidFill>
              </a:rPr>
              <a:t>Full-stack architecture built for real academic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3E761-3591-4322-BCB2-6ED0155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0370"/>
            <a:ext cx="5384800" cy="5631180"/>
          </a:xfrm>
          <a:prstGeom xmlns:a="http://schemas.openxmlformats.org/drawingml/2006/main" prst="roundRect">
            <a:avLst>
              <a:gd name="adj" fmla="val 4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CE8D4-408D-4CD3-8474-30C633CA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96A"/>
          </a:solidFill>
          <a:ln xmlns:a="http://schemas.openxmlformats.org/drawingml/2006/main" w="0">
            <a:solidFill>
              <a:srgbClr val="C8A9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DC40A-9088-45CF-AAF6-EA6038F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68C01-436B-463C-A5DC-D7035D0C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Next.js 16, React 19, TypeScript, Tailwind CSS, bilingual and responsive UI.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3B475-F7D2-464D-81C7-56D9D58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960370"/>
            <a:ext cx="5384800" cy="5631180"/>
          </a:xfrm>
          <a:prstGeom xmlns:a="http://schemas.openxmlformats.org/drawingml/2006/main" prst="roundRect">
            <a:avLst>
              <a:gd name="adj" fmla="val 4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EE414-47B9-459B-9CB8-A7EEE22F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E3A"/>
          </a:solidFill>
          <a:ln xmlns:a="http://schemas.openxmlformats.org/drawingml/2006/main" w="0">
            <a:solidFill>
              <a:srgbClr val="7A4E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8A9A1-3186-45A4-8553-7A9D856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44A5C-09BD-4A53-BF4F-2F4E60A2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Express 5 REST API with JWT auth, Zod validation, role-based middleware, and business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B5B3C-9DB3-427A-8CE6-951E589D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960370"/>
            <a:ext cx="5384800" cy="5631180"/>
          </a:xfrm>
          <a:prstGeom xmlns:a="http://schemas.openxmlformats.org/drawingml/2006/main" prst="roundRect">
            <a:avLst>
              <a:gd name="adj" fmla="val 4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F0D30-181E-4BDC-8A2E-C1B48C4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81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6E"/>
          </a:solidFill>
          <a:ln xmlns:a="http://schemas.openxmlformats.org/drawingml/2006/main" w="0">
            <a:solidFill>
              <a:srgbClr val="7C9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8F088-5116-4D95-9449-734D0B1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3147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Data &amp;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47471-FD02-481A-B7BF-5FD742D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69570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PostgreSQL with Drizzle ORM, Cloudinary, Socket.IO, PDFKit, Nodemailer, and Gemini integration.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73567-B347-4584-AF86-3099F88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72550"/>
            <a:ext cx="2130838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F0BE6-DA99-46CE-8ADE-F8E0EB64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06780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Authentication &amp;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209A9-7DEE-4FED-BBAD-BE44D244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527" y="8972550"/>
            <a:ext cx="213302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84465-D6C9-4803-9526-F588A4FE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906780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Real-time notifications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D7A5D-87EB-4BE7-A4AD-921A3FDD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146" y="8858250"/>
            <a:ext cx="1549146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F7646-F557-4EF1-AA84-CF991DE8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953500"/>
            <a:ext cx="1200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PDF 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2B032-DC53-4360-94F2-FAE4B4E2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881" y="8972550"/>
            <a:ext cx="1747933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76E2B-2B0F-4BD6-9085-A8C9645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90678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Short offer videos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BA2CE-CB76-4C03-9A1D-1B7B9F64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404" y="8858250"/>
            <a:ext cx="1163288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F8F1F-792D-4B03-A4C3-209415F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953500"/>
            <a:ext cx="819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AI chatbot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7A6A1-D2AD-4619-A7C2-6AA013F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7281" y="8972550"/>
            <a:ext cx="1900619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7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5D0FD-85F9-4688-A35D-0C42CD7F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9067800"/>
            <a:ext cx="1562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B2E2B"/>
                </a:solidFill>
              </a:defRPr>
            </a:pPr>
            <a:r>
              <a:rPr sz="1500" b="1">
                <a:solidFill>
                  <a:srgbClr val="4B2E2B"/>
                </a:solidFill>
              </a:rPr>
              <a:t>Testing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21154249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A86EC-E1A6-4FAF-9622-E2EB0C5C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10CF1-3AEF-4625-93B2-60F540E5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B6D0A-E4DD-47D5-B643-4A657F0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USER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9E6CF-5F18-4229-949F-563BA528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28397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B2E2B"/>
                </a:solidFill>
              </a:defRPr>
            </a:pPr>
            <a:r>
              <a:rPr sz="5100" b="1">
                <a:solidFill>
                  <a:srgbClr val="4B2E2B"/>
                </a:solidFill>
              </a:rPr>
              <a:t>The product is designed for real use, not just for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728AF-20D7-458D-909F-BDC22F83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7520"/>
            <a:ext cx="9587294" cy="6469380"/>
          </a:xfrm>
          <a:prstGeom xmlns:a="http://schemas.openxmlformats.org/drawingml/2006/main" prst="roundRect">
            <a:avLst>
              <a:gd name="adj" fmla="val 5006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pic>
        <p:nvPicPr>
          <p:cNvPr id="6" name="ui-homepage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33433bcbf4d9d"/>
          <a:stretch xmlns:a="http://schemas.openxmlformats.org/drawingml/2006/main"/>
        </p:blipFill>
        <p:spPr>
          <a:xfrm xmlns:a="http://schemas.openxmlformats.org/drawingml/2006/main">
            <a:off x="971550" y="3188970"/>
            <a:ext cx="9244394" cy="6126480"/>
          </a:xfrm>
          <a:prstGeom xmlns:a="http://schemas.openxmlformats.org/drawingml/2006/main" prst="roundRect">
            <a:avLst>
              <a:gd name="adj" fmla="val 373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3BFEA-672A-4763-BB0B-62CA482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14850"/>
            <a:ext cx="666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D201D"/>
                </a:solidFill>
              </a:defRPr>
            </a:pPr>
            <a:r>
              <a:rPr sz="2175" b="0">
                <a:solidFill>
                  <a:srgbClr val="2D201D"/>
                </a:solidFill>
              </a:rPr>
              <a:t>The interface combines a warm, coffee-inspired visual system with practical student and administrator 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6CCFB-982A-40E9-A255-1221736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3911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9E1AE-57BA-449B-903F-5A7DBE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391150"/>
            <a:ext cx="636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Animated homepage and clear onboarding for first-time users.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138CB-4970-4761-8FD1-28D9A8F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483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54CCF-918E-44B1-A7CD-0F6378E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848350"/>
            <a:ext cx="636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Bilingual English / French experience for broader accessibility.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3DCEC-7566-4A73-9E52-9C9FB6A5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28434-BA0F-414B-A797-9183EDC7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36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Responsive design for desktop and mobile usage.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33E8A-4C69-440D-AFAA-3CD9D727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7627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0B794-0B93-4ACB-94B4-78EAD2E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762750"/>
            <a:ext cx="636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SmartMatch score rings, real-time notifications, and favorites.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62055-D028-4673-BE19-340425F7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20090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BC670-06DD-4B59-8AF9-96B2C10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200900"/>
            <a:ext cx="636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One-click CV and internship agreement PDF generation.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6563E-127E-45ED-AC5A-1941092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65810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DE176-512B-4581-9DFD-DCEA2150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658100"/>
            <a:ext cx="636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Support for short offer videos and company reviews.</a:t>
            </a:r>
          </a:p>
        </p:txBody>
      </p:sp>
    </p:spTree>
    <p:extLst>
      <p:ext uri="{BB962C8B-B14F-4D97-AF65-F5344CB8AC3E}">
        <p14:creationId xmlns:p14="http://schemas.microsoft.com/office/powerpoint/2010/main" val="19849703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E4538-57F4-4295-A602-DD50E7AA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B36E6-85CF-401C-965C-45BA89D0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EC987-F958-45A4-92D1-CADFBFDC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87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14199-E4BE-4726-AE67-9E5224B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117538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4B2E2B"/>
                </a:solidFill>
              </a:defRPr>
            </a:pPr>
            <a:r>
              <a:rPr sz="5250" b="1">
                <a:solidFill>
                  <a:srgbClr val="4B2E2B"/>
                </a:solidFill>
              </a:rPr>
              <a:t>Implementation was tested at module and system level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1345B-5331-4D1C-BC81-7046F00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9930"/>
            <a:ext cx="81153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A7CA5-4FD9-4E0D-9F58-ACDA689B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96A"/>
          </a:solidFill>
          <a:ln xmlns:a="http://schemas.openxmlformats.org/drawingml/2006/main" w="0">
            <a:solidFill>
              <a:srgbClr val="C8A9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CA1ED-3AC0-46D3-9E5D-410B072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SmartMatch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7A826-0C6E-4B26-A9E1-B2918390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Weighting logic, location scoring, and ranking behavior were validated through targeted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CFBB2-C403-411B-A989-61D77BB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1530"/>
            <a:ext cx="81153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B9602-799E-4FFC-80DC-B5831F4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E3A"/>
          </a:solidFill>
          <a:ln xmlns:a="http://schemas.openxmlformats.org/drawingml/2006/main" w="0">
            <a:solidFill>
              <a:srgbClr val="7A4E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DC7C4-C564-4527-BF97-97CBF67E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Security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315C1-3F04-4901-B6F6-4AF9AD0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Authentication, authorization, validation, and protected routes were checked to reduce misuse.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28C0F-5C32-40B7-B8E4-8E99246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93130"/>
            <a:ext cx="81153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98C3B-E359-42FD-B1DA-8E80267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293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A6E"/>
          </a:solidFill>
          <a:ln xmlns:a="http://schemas.openxmlformats.org/drawingml/2006/main" w="0">
            <a:solidFill>
              <a:srgbClr val="7C9A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1D7C0-298A-40D1-BB32-708DF63B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62700"/>
            <a:ext cx="765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Operational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0F2C0-AC45-4914-A285-7CEE764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4370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Notifications, approvals, and role dashboards were integrated into one coherent experience.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58C37-08C6-475A-90FD-92F0BC0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49930"/>
            <a:ext cx="8115300" cy="6236970"/>
          </a:xfrm>
          <a:prstGeom xmlns:a="http://schemas.openxmlformats.org/drawingml/2006/main" prst="roundRect">
            <a:avLst>
              <a:gd name="adj" fmla="val 4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EAC72-8DED-491A-B0BC-30A17C85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24250"/>
            <a:ext cx="895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JWT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52F43-F0A2-4DA0-8EC3-8F1F3B5F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00600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secure auth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3E855-768E-4ABE-9C08-9ECAF17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524250"/>
            <a:ext cx="800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Zod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C00A9-97FF-4489-9952-41EC7F6F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8006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endpoint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E2EA5-3960-4BA6-B8B2-63A0A6D6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2019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Socket.IO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47B5B-F399-472A-995F-063F5DE2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96050"/>
            <a:ext cx="118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live notifications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2AAA7-CC94-4142-87EB-0CC00F94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200650"/>
            <a:ext cx="1428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B2E2B"/>
                </a:solidFill>
              </a:defRPr>
            </a:pPr>
            <a:r>
              <a:rPr sz="4050" b="1">
                <a:solidFill>
                  <a:srgbClr val="4B2E2B"/>
                </a:solidFill>
              </a:rPr>
              <a:t>PDFKit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B95EF-42D7-4BA6-93EF-F58F769B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496050"/>
            <a:ext cx="131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5A57"/>
                </a:solidFill>
              </a:defRPr>
            </a:pPr>
            <a:r>
              <a:rPr sz="1350" b="1">
                <a:solidFill>
                  <a:srgbClr val="5F5A57"/>
                </a:solidFill>
              </a:rPr>
              <a:t>official documents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CDA98-63AF-4B18-BE13-ED072239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05650"/>
            <a:ext cx="758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5A57"/>
                </a:solidFill>
              </a:defRPr>
            </a:pPr>
            <a:r>
              <a:rPr sz="1800" b="0">
                <a:solidFill>
                  <a:srgbClr val="5F5A57"/>
                </a:solidFill>
              </a:rPr>
              <a:t>The result is not only a visual prototype: it is a structured platform with role management, persistence, validation, and tested business logic.</a:t>
            </a:r>
          </a:p>
        </p:txBody>
      </p:sp>
    </p:spTree>
    <p:extLst>
      <p:ext uri="{BB962C8B-B14F-4D97-AF65-F5344CB8AC3E}">
        <p14:creationId xmlns:p14="http://schemas.microsoft.com/office/powerpoint/2010/main" val="9094956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36064-8A8D-4D77-B27F-BE6CF408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611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1691-96C9-4FD9-B21A-C08FCA20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0"/>
            <a:ext cx="1752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6C74B-D7E4-4642-B37E-C123F8D4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95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4E3A"/>
                </a:solidFill>
              </a:defRPr>
            </a:pPr>
            <a:r>
              <a:rPr sz="1350" b="1">
                <a:solidFill>
                  <a:srgbClr val="7A4E3A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5F347-8BCF-4F93-93FC-B43EF8CC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133159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4B2E2B"/>
                </a:solidFill>
              </a:defRPr>
            </a:pPr>
            <a:r>
              <a:rPr sz="5550" b="1">
                <a:solidFill>
                  <a:srgbClr val="4B2E2B"/>
                </a:solidFill>
              </a:rPr>
              <a:t>Stag.io closes the gap between university and industry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BB327-4BF8-4708-B8C6-97FE3FB6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8096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D201D"/>
                </a:solidFill>
              </a:defRPr>
            </a:pPr>
            <a:r>
              <a:rPr sz="2325" b="0">
                <a:solidFill>
                  <a:srgbClr val="2D201D"/>
                </a:solidFill>
              </a:rPr>
              <a:t>The project transforms internship management from a fragmented and paper-heavy process into a transparent, trackable, and intelligent digital experience.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C6640-9B89-4AB0-97D9-9597F73A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531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D1E80-5E71-4243-A189-BD510CA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531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Efficiency: faster discovery, application, and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B690C-BE2F-4D5D-9720-4556051B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103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F7C38-6C26-4653-B005-93A01DF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6103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Transparency: every actor has visibility on the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94CA8-35D2-4C28-949E-7FFFE89F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67550"/>
            <a:ext cx="171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8A96A"/>
                </a:solidFill>
              </a:defRPr>
            </a:pPr>
            <a:r>
              <a:rPr sz="2100" b="1">
                <a:solidFill>
                  <a:srgbClr val="C8A96A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8A58C-1C8D-4349-9207-4A44D26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675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201D"/>
                </a:solidFill>
              </a:defRPr>
            </a:pPr>
            <a:r>
              <a:rPr sz="1875" b="0">
                <a:solidFill>
                  <a:srgbClr val="2D201D"/>
                </a:solidFill>
              </a:rPr>
              <a:t>Intelligence: SmartMatch improves the relevance of opportunities.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5E76C-3EAD-4D4F-8E7B-2B1C891A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12970"/>
            <a:ext cx="8096250" cy="1428750"/>
          </a:xfrm>
          <a:prstGeom xmlns:a="http://schemas.openxmlformats.org/drawingml/2006/main" prst="roundRect">
            <a:avLst>
              <a:gd name="adj" fmla="val 18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B7361-11A3-41B6-BF51-C41602DC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339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96A"/>
          </a:solidFill>
          <a:ln xmlns:a="http://schemas.openxmlformats.org/drawingml/2006/main" w="0">
            <a:solidFill>
              <a:srgbClr val="C8A9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C023C-EAB3-46C7-B621-56304AC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673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Immediate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09BC5-830E-47A5-A668-05F453C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48300"/>
            <a:ext cx="7639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A usable platform for students, companies, and universities with modern full-stack implementation.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DBD8F-08BB-44DB-ABED-AE96A966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332220"/>
            <a:ext cx="809625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D7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6780C-47E0-4D8D-890D-FDC1D0C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53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96A"/>
          </a:solidFill>
          <a:ln xmlns:a="http://schemas.openxmlformats.org/drawingml/2006/main" w="0">
            <a:solidFill>
              <a:srgbClr val="C8A9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158E4-FD2C-47F4-8D60-AFFA1A90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8655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B2E2B"/>
                </a:solidFill>
              </a:defRPr>
            </a:pPr>
            <a:r>
              <a:rPr sz="1875" b="1">
                <a:solidFill>
                  <a:srgbClr val="4B2E2B"/>
                </a:solidFill>
              </a:rPr>
              <a:t>Future 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0C597-1F90-4A34-9984-2EDD472E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67550"/>
            <a:ext cx="7639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Broader institutional adoption, richer analytics, and more advanced AI assistance.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3ED95B-F99D-4107-BF1D-53EF010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82100"/>
            <a:ext cx="1066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A4E3A"/>
                </a:solidFill>
              </a:defRPr>
            </a:pPr>
            <a:r>
              <a:rPr sz="1950" b="1">
                <a:solidFill>
                  <a:srgbClr val="7A4E3A"/>
                </a:solidFill>
              </a:rPr>
              <a:t>Thank you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E8813F-3F75-4825-83E4-13BAB30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92202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5A57"/>
                </a:solidFill>
              </a:defRPr>
            </a:pPr>
            <a:r>
              <a:rPr sz="1500" b="0">
                <a:solidFill>
                  <a:srgbClr val="5F5A57"/>
                </a:solidFill>
              </a:rPr>
              <a:t>Stag.io • End-of-Studies Project • June 2026 session</a:t>
            </a:r>
          </a:p>
        </p:txBody>
      </p:sp>
    </p:spTree>
    <p:extLst>
      <p:ext uri="{BB962C8B-B14F-4D97-AF65-F5344CB8AC3E}">
        <p14:creationId xmlns:p14="http://schemas.microsoft.com/office/powerpoint/2010/main" val="2117221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2026-05-03T10:43:27.1050000Z</dcterms:created>
  <dcterms:modified xsi:type="dcterms:W3CDTF">2026-05-03T10:43:27.1050000Z</dcterms:modified>
</coreProperties>
</file>